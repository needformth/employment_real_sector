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408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63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972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39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319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01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64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08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868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16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36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245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0556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54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220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48521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21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63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B409CC-B7D1-4B62-A7F8-ED27A82FDA12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3476E-0211-4091-9734-611DEE30FE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761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ABD51-12DC-4C3F-8D0A-CFA7F6EB2B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Влияние развития реального сектора на уровень занятости в регионах РФ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B177B0-90E1-4E67-828E-6A017ECA5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15.24Д-Э01/22б Корень Илья Максимович, Смирнов Игорь Дмитриевич</a:t>
            </a:r>
          </a:p>
          <a:p>
            <a:r>
              <a:rPr lang="ru-RU" dirty="0"/>
              <a:t>Научный руководитель: </a:t>
            </a:r>
            <a:r>
              <a:rPr lang="ru-RU" dirty="0" err="1"/>
              <a:t>Зарова</a:t>
            </a:r>
            <a:r>
              <a:rPr lang="ru-RU" dirty="0"/>
              <a:t> Елена Викторовна, Кафедра статистики, Профессор, </a:t>
            </a:r>
            <a:r>
              <a:rPr lang="ru-RU" dirty="0" err="1"/>
              <a:t>д.н</a:t>
            </a:r>
            <a:r>
              <a:rPr lang="ru-RU" dirty="0"/>
              <a:t>., уч. звание "профессор"</a:t>
            </a:r>
          </a:p>
        </p:txBody>
      </p:sp>
    </p:spTree>
    <p:extLst>
      <p:ext uri="{BB962C8B-B14F-4D97-AF65-F5344CB8AC3E}">
        <p14:creationId xmlns:p14="http://schemas.microsoft.com/office/powerpoint/2010/main" val="386923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E6EF25-BB29-4507-B60E-9345342A1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9253"/>
          </a:xfrm>
        </p:spPr>
        <p:txBody>
          <a:bodyPr/>
          <a:lstStyle/>
          <a:p>
            <a:r>
              <a:rPr lang="ru-RU" sz="2800" dirty="0"/>
              <a:t>Научная гипотеза, актуальность, 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B1A6E8-1DEF-42C2-BE4D-4FF94916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21971"/>
            <a:ext cx="8946541" cy="5469773"/>
          </a:xfrm>
        </p:spPr>
        <p:txBody>
          <a:bodyPr>
            <a:normAutofit/>
          </a:bodyPr>
          <a:lstStyle/>
          <a:p>
            <a:pPr algn="l"/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Научная гипотеза:</a:t>
            </a:r>
            <a:endParaRPr lang="ru-RU" sz="1400" b="1" dirty="0">
              <a:solidFill>
                <a:srgbClr val="F9FAFB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Мы предполагаем, что показатели реального сектора экономики РФ влияют на уровень занятости регионов. В качестве влияющих факторов мы выделили Индекс промышленного производства, Долю инвестиций в основной капитал к ВРП, грузоёмкость ВРП, доля обрабатывающих производств и производительность труда.</a:t>
            </a:r>
          </a:p>
          <a:p>
            <a:pPr algn="l"/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Актуальность исследования: </a:t>
            </a:r>
          </a:p>
          <a:p>
            <a:pPr marL="0" indent="0" algn="l">
              <a:buNone/>
            </a:pPr>
            <a:r>
              <a:rPr lang="ru-RU" sz="1400" i="0" dirty="0">
                <a:solidFill>
                  <a:srgbClr val="F9FAFB"/>
                </a:solidFill>
                <a:effectLst/>
                <a:latin typeface="quote-cjk-patch"/>
              </a:rPr>
              <a:t>Исследование влияния развития реального сектора на уровень занятости в регионах России является весьма актуальным как с научной, так и с практической точки зрения. Это обусловлено сочетанием макроэкономических вызовов, сохраняющейся территориальной неоднородности и стратегических целей развития страны.</a:t>
            </a:r>
          </a:p>
          <a:p>
            <a:pPr algn="l">
              <a:buFont typeface="Wingdings" panose="05000000000000000000" pitchFamily="2" charset="2"/>
              <a:buChar char="ü"/>
            </a:pPr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Цель исследования:</a:t>
            </a:r>
            <a:endParaRPr lang="ru-RU" sz="1400" dirty="0">
              <a:solidFill>
                <a:srgbClr val="F9FAFB"/>
              </a:solidFill>
              <a:latin typeface="quote-cjk-patch"/>
            </a:endParaRPr>
          </a:p>
          <a:p>
            <a:pPr marL="0" indent="0" algn="l">
              <a:buNone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Проанализировать наличие влияние развития реального сектора на уровень занятости в регионах России.</a:t>
            </a:r>
          </a:p>
          <a:p>
            <a:pPr algn="l"/>
            <a:r>
              <a:rPr lang="ru-RU" sz="1400" b="1" i="0" dirty="0">
                <a:solidFill>
                  <a:srgbClr val="F9FAFB"/>
                </a:solidFill>
                <a:effectLst/>
                <a:latin typeface="quote-cjk-patch"/>
              </a:rPr>
              <a:t>Задачи исследования: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Собрать данные по всем субъектам за последние 5 лет.</a:t>
            </a:r>
          </a:p>
          <a:p>
            <a:pPr algn="l">
              <a:buFont typeface="+mj-lt"/>
              <a:buAutoNum type="arabicPeriod"/>
            </a:pPr>
            <a:r>
              <a:rPr lang="ru-RU" sz="1400" dirty="0">
                <a:solidFill>
                  <a:srgbClr val="F9FAFB"/>
                </a:solidFill>
                <a:latin typeface="quote-cjk-patch"/>
              </a:rPr>
              <a:t>Провести описательную статистику для данных</a:t>
            </a:r>
          </a:p>
          <a:p>
            <a:pPr algn="l">
              <a:buFont typeface="+mj-lt"/>
              <a:buAutoNum type="arabicPeriod"/>
            </a:pPr>
            <a:r>
              <a:rPr lang="ru-RU" sz="1400" dirty="0">
                <a:solidFill>
                  <a:srgbClr val="F9FAFB"/>
                </a:solidFill>
                <a:latin typeface="quote-cjk-patch"/>
              </a:rPr>
              <a:t>Устранить выбросы в данных</a:t>
            </a:r>
          </a:p>
          <a:p>
            <a:pPr algn="l">
              <a:buFont typeface="+mj-lt"/>
              <a:buAutoNum type="arabicPeriod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Провести кластеризацию регионов на три группы по состоянию реального сектора и проанализировать их особенности</a:t>
            </a:r>
          </a:p>
          <a:p>
            <a:pPr algn="l">
              <a:buFont typeface="+mj-lt"/>
              <a:buAutoNum type="arabicPeriod"/>
            </a:pP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Провести тест </a:t>
            </a:r>
            <a:r>
              <a:rPr lang="ru-RU" sz="1400" b="0" i="0" dirty="0" err="1">
                <a:solidFill>
                  <a:srgbClr val="F9FAFB"/>
                </a:solidFill>
                <a:effectLst/>
                <a:latin typeface="quote-cjk-patch"/>
              </a:rPr>
              <a:t>Грейнджера</a:t>
            </a:r>
            <a:r>
              <a:rPr lang="ru-RU" sz="1400" b="0" i="0" dirty="0">
                <a:solidFill>
                  <a:srgbClr val="F9FAFB"/>
                </a:solidFill>
                <a:effectLst/>
                <a:latin typeface="quote-cjk-patch"/>
              </a:rPr>
              <a:t> для каждого кластера</a:t>
            </a:r>
          </a:p>
          <a:p>
            <a:pPr algn="l">
              <a:buFont typeface="+mj-lt"/>
              <a:buAutoNum type="arabicPeriod"/>
            </a:pPr>
            <a:r>
              <a:rPr lang="ru-RU" sz="1400" dirty="0">
                <a:solidFill>
                  <a:srgbClr val="F9FAFB"/>
                </a:solidFill>
                <a:latin typeface="quote-cjk-patch"/>
              </a:rPr>
              <a:t>Построить для каждого кластера регрессию</a:t>
            </a:r>
            <a:endParaRPr lang="ru-RU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028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902FA1-F975-4733-9FE2-0008742F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Система показателей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A2683507-D3AD-44BB-9E6A-234CBA2F4C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55081"/>
              </p:ext>
            </p:extLst>
          </p:nvPr>
        </p:nvGraphicFramePr>
        <p:xfrm>
          <a:off x="1226820" y="1973580"/>
          <a:ext cx="9799319" cy="419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242">
                  <a:extLst>
                    <a:ext uri="{9D8B030D-6E8A-4147-A177-3AD203B41FA5}">
                      <a16:colId xmlns:a16="http://schemas.microsoft.com/office/drawing/2014/main" val="2320732866"/>
                    </a:ext>
                  </a:extLst>
                </a:gridCol>
                <a:gridCol w="1834212">
                  <a:extLst>
                    <a:ext uri="{9D8B030D-6E8A-4147-A177-3AD203B41FA5}">
                      <a16:colId xmlns:a16="http://schemas.microsoft.com/office/drawing/2014/main" val="2021371521"/>
                    </a:ext>
                  </a:extLst>
                </a:gridCol>
                <a:gridCol w="1196318">
                  <a:extLst>
                    <a:ext uri="{9D8B030D-6E8A-4147-A177-3AD203B41FA5}">
                      <a16:colId xmlns:a16="http://schemas.microsoft.com/office/drawing/2014/main" val="2780051109"/>
                    </a:ext>
                  </a:extLst>
                </a:gridCol>
                <a:gridCol w="1215842">
                  <a:extLst>
                    <a:ext uri="{9D8B030D-6E8A-4147-A177-3AD203B41FA5}">
                      <a16:colId xmlns:a16="http://schemas.microsoft.com/office/drawing/2014/main" val="3589508228"/>
                    </a:ext>
                  </a:extLst>
                </a:gridCol>
                <a:gridCol w="3175705">
                  <a:extLst>
                    <a:ext uri="{9D8B030D-6E8A-4147-A177-3AD203B41FA5}">
                      <a16:colId xmlns:a16="http://schemas.microsoft.com/office/drawing/2014/main" val="550337455"/>
                    </a:ext>
                  </a:extLst>
                </a:gridCol>
              </a:tblGrid>
              <a:tr h="68991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>
                          <a:effectLst/>
                        </a:rPr>
                        <a:t>Показатель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>
                          <a:effectLst/>
                        </a:rPr>
                        <a:t>Переменная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>
                          <a:effectLst/>
                        </a:rPr>
                        <a:t>Единица измерения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>
                          <a:effectLst/>
                        </a:rPr>
                        <a:t>Гипотетическое влияние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1" u="none" strike="noStrike" dirty="0">
                          <a:effectLst/>
                        </a:rPr>
                        <a:t>Комментарий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2877598"/>
                  </a:ext>
                </a:extLst>
              </a:tr>
              <a:tr h="68991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Индекс промышленного производства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industry_index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+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Будет показывать темп развития промышленности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4450207"/>
                  </a:ext>
                </a:extLst>
              </a:tr>
              <a:tr h="68991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Доля инвестиций в основной капитал к ВРП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capital_investments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+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Отражает желание бизнеса вкладываться в реальный сектор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35050281"/>
                  </a:ext>
                </a:extLst>
              </a:tr>
              <a:tr h="68991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Грузоёмкость ВРП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load_capacity_grp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тонн-км/долл. США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+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Отражает уровень развития транспортной инфрструктуры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36581592"/>
                  </a:ext>
                </a:extLst>
              </a:tr>
              <a:tr h="689919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Доля обрабатывающих производств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secondary_sector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+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Показывает уровень развития обрабатывающих производств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96346050"/>
                  </a:ext>
                </a:extLst>
              </a:tr>
              <a:tr h="494270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Производительность труда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labour_productivity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-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Показатель производительности труда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79760199"/>
                  </a:ext>
                </a:extLst>
              </a:tr>
              <a:tr h="24713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Уровень занятости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employment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effectLst/>
                        </a:rPr>
                        <a:t>%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u="none" strike="noStrike">
                          <a:effectLst/>
                        </a:rPr>
                        <a:t>0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effectLst/>
                        </a:rPr>
                        <a:t>Прогнозируемый показатель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998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3623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B3CA9-C2F9-41E0-8777-EDD9BEEE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EDA, </a:t>
            </a:r>
            <a:r>
              <a:rPr lang="ru-RU" dirty="0"/>
              <a:t>описательная статистика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0C6CC6-A845-4E9E-9FF4-772E9627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41" y="1152983"/>
            <a:ext cx="4744860" cy="25863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7DB629-13B8-4F9D-A892-52261B427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1082258"/>
            <a:ext cx="4507104" cy="27278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46285A-73E0-4B21-A24E-F57A8095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" y="3794901"/>
            <a:ext cx="4175288" cy="241970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C5C1DA0-22C8-4E23-89EC-076B184C9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570" y="3810070"/>
            <a:ext cx="4175288" cy="244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8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5708D-D075-4DD9-BCE7-2F7F552C4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EDA, </a:t>
            </a:r>
            <a:r>
              <a:rPr lang="ru-RU" dirty="0"/>
              <a:t>описательная статистика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B58DBC-31F4-4676-AD71-A1E9985B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42" y="3078480"/>
            <a:ext cx="5520064" cy="30758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C0C53A-67D7-4C8C-A812-F524EC68A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794" y="1516380"/>
            <a:ext cx="5642086" cy="3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68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131A6B-8CCE-4E9B-8CAE-736B8F60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2593" cy="6858000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E30B3F88-4EC3-4E61-A004-5EDD7DFBCF5F}"/>
              </a:ext>
            </a:extLst>
          </p:cNvPr>
          <p:cNvSpPr/>
          <p:nvPr/>
        </p:nvSpPr>
        <p:spPr>
          <a:xfrm>
            <a:off x="5898338" y="2796540"/>
            <a:ext cx="350520" cy="3276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7269FF-02AA-4DD5-91FD-0105A6F86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663" y="-15240"/>
            <a:ext cx="58225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81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DAF2A-7323-4E56-9541-6524BED5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 регионов (</a:t>
            </a:r>
            <a:r>
              <a:rPr lang="en-US" dirty="0"/>
              <a:t>Ward)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56AD8F-BA2D-440D-95CD-C3F1C7ACD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526" y="2052638"/>
            <a:ext cx="7728723" cy="4195762"/>
          </a:xfrm>
        </p:spPr>
      </p:pic>
    </p:spTree>
    <p:extLst>
      <p:ext uri="{BB962C8B-B14F-4D97-AF65-F5344CB8AC3E}">
        <p14:creationId xmlns:p14="http://schemas.microsoft.com/office/powerpoint/2010/main" val="1742712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67EE8-E914-4087-9EB1-BBC6ED90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особенностей кластеров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8F4D736-4399-4C1A-B276-D963A1B37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143634"/>
            <a:ext cx="8947150" cy="4013769"/>
          </a:xfrm>
        </p:spPr>
      </p:pic>
    </p:spTree>
    <p:extLst>
      <p:ext uri="{BB962C8B-B14F-4D97-AF65-F5344CB8AC3E}">
        <p14:creationId xmlns:p14="http://schemas.microsoft.com/office/powerpoint/2010/main" val="1384267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DC5F3-82E3-49AF-B793-3A1B6F7A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Письменное описание каждого кластера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F6529-5717-4EEF-A72D-E8C8CA91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11" y="2077572"/>
            <a:ext cx="3421381" cy="4199963"/>
          </a:xfrm>
        </p:spPr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КЛАСТЕР 1 (регионов: 26)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Средние значения показателей: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industry_index</a:t>
            </a:r>
            <a:r>
              <a:rPr lang="ru-RU" dirty="0"/>
              <a:t>: 104.40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capital_investments</a:t>
            </a:r>
            <a:r>
              <a:rPr lang="ru-RU" dirty="0"/>
              <a:t>: 26.47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load_capacity_grp</a:t>
            </a:r>
            <a:r>
              <a:rPr lang="ru-RU" dirty="0"/>
              <a:t>: 0.11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secondary_sector</a:t>
            </a:r>
            <a:r>
              <a:rPr lang="ru-RU" dirty="0"/>
              <a:t>: 6.00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labour_productivity</a:t>
            </a:r>
            <a:r>
              <a:rPr lang="ru-RU" dirty="0"/>
              <a:t>: 102.57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employment</a:t>
            </a:r>
            <a:r>
              <a:rPr lang="ru-RU" dirty="0"/>
              <a:t>: 59.00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Типичные регионы (первые 10):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Курская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Ненецкий автономный округ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Адыгея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Крым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Город Севастополь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Дагестан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Ингушетия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Кабардино-Балкарская Республика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Карачаево-Черкесская Республика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Северная Осетия-Алания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Характеристика кластера: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Высокий уровень промышленного производства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Высокий уровень инвестиций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Высокая производительность труда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Высокий уровень занятости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2EF355F-ABED-4AEC-9606-E064D6536709}"/>
              </a:ext>
            </a:extLst>
          </p:cNvPr>
          <p:cNvSpPr txBox="1">
            <a:spLocks/>
          </p:cNvSpPr>
          <p:nvPr/>
        </p:nvSpPr>
        <p:spPr>
          <a:xfrm>
            <a:off x="4136866" y="2077572"/>
            <a:ext cx="3215641" cy="394202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КЛАСТЕР 2 (регионов: 24)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Средние значения показателей: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industry_index</a:t>
            </a:r>
            <a:r>
              <a:rPr lang="ru-RU" dirty="0"/>
              <a:t>: 105.89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capital_investments</a:t>
            </a:r>
            <a:r>
              <a:rPr lang="ru-RU" dirty="0"/>
              <a:t>: 19.40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load_capacity_grp</a:t>
            </a:r>
            <a:r>
              <a:rPr lang="ru-RU" dirty="0"/>
              <a:t>: 0.20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secondary_sector</a:t>
            </a:r>
            <a:r>
              <a:rPr lang="ru-RU" dirty="0"/>
              <a:t>: 24.15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labour_productivity</a:t>
            </a:r>
            <a:r>
              <a:rPr lang="ru-RU" dirty="0"/>
              <a:t>: 103.09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employment</a:t>
            </a:r>
            <a:r>
              <a:rPr lang="ru-RU" dirty="0"/>
              <a:t>: 59.39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Типичные регионы (первые 10):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Брянская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Владимирская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Ивановская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Калужская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Липецкая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Московская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Рязанская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Смоленская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Тверская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Тульская область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Характеристика кластера: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Высокий уровень промышленного производства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Низкий уровень инвестиций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Высокая производительность труда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Высокий уровень занятости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6B38AD3-2A13-43BD-A3C7-0B1BF2C4FB1D}"/>
              </a:ext>
            </a:extLst>
          </p:cNvPr>
          <p:cNvSpPr txBox="1">
            <a:spLocks/>
          </p:cNvSpPr>
          <p:nvPr/>
        </p:nvSpPr>
        <p:spPr>
          <a:xfrm>
            <a:off x="7498081" y="2077572"/>
            <a:ext cx="3421381" cy="4199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b="1" dirty="0"/>
              <a:t>КЛАСТЕР 3 (регионов: 37)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Средние значения показателей: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industry_index</a:t>
            </a:r>
            <a:r>
              <a:rPr lang="ru-RU" dirty="0"/>
              <a:t>: 102.46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capital_investments</a:t>
            </a:r>
            <a:r>
              <a:rPr lang="ru-RU" dirty="0"/>
              <a:t>: 19.09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load_capacity_grp</a:t>
            </a:r>
            <a:r>
              <a:rPr lang="ru-RU" dirty="0"/>
              <a:t>: 0.18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secondary_sector</a:t>
            </a:r>
            <a:r>
              <a:rPr lang="ru-RU" dirty="0"/>
              <a:t>: 17.65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labour_productivity</a:t>
            </a:r>
            <a:r>
              <a:rPr lang="ru-RU" dirty="0"/>
              <a:t>: 101.73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</a:t>
            </a:r>
            <a:r>
              <a:rPr lang="ru-RU" dirty="0" err="1"/>
              <a:t>employment</a:t>
            </a:r>
            <a:r>
              <a:rPr lang="ru-RU" dirty="0"/>
              <a:t>: 57.55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Типичные регионы (первые 10):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Белгородская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Воронежская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Костромская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Орловская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Тамбовская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Карелия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Республика Коми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Архангельская область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Архангельская область (кроме Ненецкого АО)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- Вологодская область</a:t>
            </a:r>
          </a:p>
          <a:p>
            <a:pPr marL="0" indent="0">
              <a:spcBef>
                <a:spcPts val="0"/>
              </a:spcBef>
              <a:buNone/>
            </a:pPr>
            <a:endParaRPr lang="ru-RU" dirty="0"/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Характеристика кластера: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Низкий уровень промышленного производства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Низкий уровень инвестиций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Низкая производительность труда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/>
              <a:t>  • Низкий уровень занятости</a:t>
            </a:r>
          </a:p>
        </p:txBody>
      </p:sp>
    </p:spTree>
    <p:extLst>
      <p:ext uri="{BB962C8B-B14F-4D97-AF65-F5344CB8AC3E}">
        <p14:creationId xmlns:p14="http://schemas.microsoft.com/office/powerpoint/2010/main" val="145260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6917C-463F-4793-BD2F-A36A621B9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46589"/>
          </a:xfrm>
        </p:spPr>
        <p:txBody>
          <a:bodyPr/>
          <a:lstStyle/>
          <a:p>
            <a:r>
              <a:rPr lang="ru-RU" sz="2000" dirty="0"/>
              <a:t>Визуализация кластеров с помощью метода главных компонент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35FDE9D-9C2E-4EAA-B1BA-45BF42228D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540" y="838822"/>
            <a:ext cx="10020300" cy="5729618"/>
          </a:xfrm>
        </p:spPr>
      </p:pic>
    </p:spTree>
    <p:extLst>
      <p:ext uri="{BB962C8B-B14F-4D97-AF65-F5344CB8AC3E}">
        <p14:creationId xmlns:p14="http://schemas.microsoft.com/office/powerpoint/2010/main" val="310108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A9386-8F36-4DBF-B183-2D84B388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 </a:t>
            </a:r>
            <a:r>
              <a:rPr lang="ru-RU" dirty="0" err="1"/>
              <a:t>Грейнджера</a:t>
            </a:r>
            <a:r>
              <a:rPr lang="ru-RU" dirty="0"/>
              <a:t> для каждого кластера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2A1B4-DEA6-43E7-AD61-1DE74EC4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184968" cy="4195481"/>
          </a:xfrm>
        </p:spPr>
        <p:txBody>
          <a:bodyPr/>
          <a:lstStyle/>
          <a:p>
            <a:r>
              <a:rPr lang="ru-RU" dirty="0"/>
              <a:t>Тест </a:t>
            </a:r>
            <a:r>
              <a:rPr lang="ru-RU" dirty="0" err="1"/>
              <a:t>Грейнджера</a:t>
            </a:r>
            <a:r>
              <a:rPr lang="ru-RU" dirty="0"/>
              <a:t> показывает, что при уровне значимости в 5% прогностическим потенциалом обладает только Грузоёмкость ВРП для 3 кластера. Производительность труда для 3 кластера значима с натяжкой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AEE0BF-B692-40A7-AA0C-006B1A37D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47595"/>
            <a:ext cx="5267794" cy="420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98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8F318A7D-FAA4-4185-9804-F20E7D23C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051A4D-B0F7-4ABA-88C1-1E175862E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139" y="0"/>
            <a:ext cx="9971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57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38B3A-5A15-4FF4-8FE0-1C7C92C44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коэффициентов корреляции по средним данным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ECE0740-8695-4078-A964-5E7B0A6901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991" y="2052638"/>
            <a:ext cx="5141794" cy="4195762"/>
          </a:xfrm>
        </p:spPr>
      </p:pic>
    </p:spTree>
    <p:extLst>
      <p:ext uri="{BB962C8B-B14F-4D97-AF65-F5344CB8AC3E}">
        <p14:creationId xmlns:p14="http://schemas.microsoft.com/office/powerpoint/2010/main" val="1107856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613C1F-E45D-4217-9F30-55A6186A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1400530"/>
          </a:xfrm>
        </p:spPr>
        <p:txBody>
          <a:bodyPr/>
          <a:lstStyle/>
          <a:p>
            <a:r>
              <a:rPr lang="ru-RU" dirty="0"/>
              <a:t>Корреляционные матрицы по кластерам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4EFFBE-AF57-42A6-8CFE-F0A14838D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806245"/>
            <a:ext cx="12192001" cy="5051755"/>
          </a:xfrm>
        </p:spPr>
      </p:pic>
    </p:spTree>
    <p:extLst>
      <p:ext uri="{BB962C8B-B14F-4D97-AF65-F5344CB8AC3E}">
        <p14:creationId xmlns:p14="http://schemas.microsoft.com/office/powerpoint/2010/main" val="220561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52BE7-089A-412B-92DF-FD078343F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Регрессии для кластеров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3C22753-4030-48F0-A294-3CA0BD695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541" y="1610958"/>
            <a:ext cx="9617539" cy="4794324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Cluster №1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R2 = 80.49%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Intercept: </a:t>
            </a:r>
            <a:r>
              <a:rPr lang="en-US" sz="1600" dirty="0" err="1"/>
              <a:t>coef</a:t>
            </a:r>
            <a:r>
              <a:rPr lang="en-US" sz="1600" dirty="0"/>
              <a:t>=23.5039, se=10.6534, t=2.2062, p=0.1145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Индекс промышленности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=0.2321, se=0.0836, t=2.7752, p=0.0693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Доля обрабатывающих производств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=1.8760, se=0.6239, t=3.0066, p=0.0574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Cluster №2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R2 = 96.67%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Intercept: </a:t>
            </a:r>
            <a:r>
              <a:rPr lang="en-US" sz="1600" dirty="0" err="1"/>
              <a:t>coef</a:t>
            </a:r>
            <a:r>
              <a:rPr lang="en-US" sz="1600" dirty="0"/>
              <a:t>=-2.9808, se=9.8489, t=-0.3027, p=0.7907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Индекс промышленности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=0.4376, se=0.0594, t=7.3709, p=0.0179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Доля инвестиций в ОК к ВРП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=2.0861, se=0.4020, t=5.1895, p=0.0352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Грузоёмкость ВРП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=-124.4766, se=20.2490, t=-6.1473, p=0.0255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============================================================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Cluster №3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R2 = 91.39%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Intercept: </a:t>
            </a:r>
            <a:r>
              <a:rPr lang="en-US" sz="1600" dirty="0" err="1"/>
              <a:t>coef</a:t>
            </a:r>
            <a:r>
              <a:rPr lang="en-US" sz="1600" dirty="0"/>
              <a:t>=42.1484, se=14.1508, t=2.9785, p=0.0967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Грузоёмкость ВРП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=-28.7532, se=13.7933, t=-2.0846, p=0.1725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Доля обрабатывающих производств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=-1.5127, se=0.5846, t=-2.5877, p=0.1225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600" dirty="0"/>
              <a:t>Производительность труда</a:t>
            </a:r>
            <a:r>
              <a:rPr lang="en-US" sz="1600" dirty="0"/>
              <a:t>: </a:t>
            </a:r>
            <a:r>
              <a:rPr lang="en-US" sz="1600" dirty="0" err="1"/>
              <a:t>coef</a:t>
            </a:r>
            <a:r>
              <a:rPr lang="en-US" sz="1600" dirty="0"/>
              <a:t>=0.4660, se=0.1226, t=3.8020, p=0.0627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============================================================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53427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1FF53-BC02-470C-AD6A-1BE3DB3D3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DEBBE1-9735-43C1-9300-5EDAB9C4B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Гипотеза подтверждается с оговорками</a:t>
            </a:r>
          </a:p>
          <a:p>
            <a:pPr lvl="1"/>
            <a:r>
              <a:rPr lang="ru-RU" dirty="0"/>
              <a:t>Влияние неоднородно по регионам</a:t>
            </a:r>
          </a:p>
          <a:p>
            <a:pPr lvl="1"/>
            <a:r>
              <a:rPr lang="ru-RU" dirty="0"/>
              <a:t>Качество моделей высокое: от 80% до 97%</a:t>
            </a:r>
          </a:p>
          <a:p>
            <a:pPr lvl="1"/>
            <a:r>
              <a:rPr lang="ru-RU" dirty="0"/>
              <a:t>В каждом кластере свой наиболее значимый фактор</a:t>
            </a:r>
          </a:p>
          <a:p>
            <a:pPr lvl="1"/>
            <a:r>
              <a:rPr lang="ru-RU" dirty="0"/>
              <a:t>Обнаружена непохожесть влияния развития реального сектора на некоторые добывающие регионы и регионы особого статуса (Крым, Севастополь </a:t>
            </a:r>
            <a:r>
              <a:rPr lang="ru-RU"/>
              <a:t>и регионы СКФО)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98772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873</TotalTime>
  <Words>994</Words>
  <Application>Microsoft Office PowerPoint</Application>
  <PresentationFormat>Широкоэкранный</PresentationFormat>
  <Paragraphs>176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Century Gothic</vt:lpstr>
      <vt:lpstr>quote-cjk-patch</vt:lpstr>
      <vt:lpstr>Wingdings</vt:lpstr>
      <vt:lpstr>Wingdings 3</vt:lpstr>
      <vt:lpstr>Ион</vt:lpstr>
      <vt:lpstr>Влияние развития реального сектора на уровень занятости в регионах РФ</vt:lpstr>
      <vt:lpstr>Научная гипотеза, актуальность, цели и задачи</vt:lpstr>
      <vt:lpstr>Система показателей</vt:lpstr>
      <vt:lpstr>EDA, описательная статистика</vt:lpstr>
      <vt:lpstr>EDA, описательная статистика</vt:lpstr>
      <vt:lpstr>Презентация PowerPoint</vt:lpstr>
      <vt:lpstr>Кластеризация регионов (Ward)</vt:lpstr>
      <vt:lpstr>Описание особенностей кластеров</vt:lpstr>
      <vt:lpstr>Письменное описание каждого кластера</vt:lpstr>
      <vt:lpstr>Визуализация кластеров с помощью метода главных компонент </vt:lpstr>
      <vt:lpstr>Тест Грейнджера для каждого кластера</vt:lpstr>
      <vt:lpstr>Презентация PowerPoint</vt:lpstr>
      <vt:lpstr>Матрица коэффициентов корреляции по средним данным</vt:lpstr>
      <vt:lpstr>Корреляционные матрицы по кластерам</vt:lpstr>
      <vt:lpstr>Регрессии для кластеров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и факторный анализ уровня безработицы в регионах Северо-Кавказского федерального округа.</dc:title>
  <dc:creator>William Koren</dc:creator>
  <cp:lastModifiedBy>William Koren</cp:lastModifiedBy>
  <cp:revision>44</cp:revision>
  <dcterms:created xsi:type="dcterms:W3CDTF">2025-11-16T13:04:56Z</dcterms:created>
  <dcterms:modified xsi:type="dcterms:W3CDTF">2025-12-15T10:22:01Z</dcterms:modified>
</cp:coreProperties>
</file>